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048000"/>
          </a:xfrm>
          <a:custGeom>
            <a:avLst/>
            <a:gdLst/>
            <a:ahLst/>
            <a:cxnLst/>
            <a:rect l="l" t="t" r="r" b="b"/>
            <a:pathLst>
              <a:path w="5080000" h="3048000">
                <a:moveTo>
                  <a:pt x="0" y="0"/>
                </a:moveTo>
                <a:lnTo>
                  <a:pt x="5080000" y="0"/>
                </a:lnTo>
                <a:lnTo>
                  <a:pt x="5080000" y="1524000"/>
                </a:lnTo>
                <a:quadBezTo>
                  <a:pt x="4445000" y="2032000"/>
                  <a:pt x="3810000" y="2032000"/>
                </a:quadBezTo>
                <a:lnTo>
                  <a:pt x="1270000" y="2032000"/>
                </a:lnTo>
                <a:quadBezTo>
                  <a:pt x="635000" y="2032000"/>
                  <a:pt x="0" y="1524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3175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AddressSanitizer (ASan) 机制扫盲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精准狙击内存Bug的动态检测工具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33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zyy · 2026.07.14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目录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54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C/C++ 内存Bug之痛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55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ASan 工作原理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57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公司内部对ASan的部分修改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58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58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动手试一试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660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6604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6604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总结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C/C++ 内存Bug之痛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最常见亦最折磨人的Bug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内存越界（Buffer Overflow）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释放后使用（Use-after-Free）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致命特点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延时爆发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隐蔽性极强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错误发生时不会立即崩溃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事后随机死机，现场早已面目全非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传统调试手段的困境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printf 逐行打印 —— 效率极低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GDB 断点追溯 —— 极难捕获第一现场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0" y="2286000"/>
            <a:ext cx="5588000" cy="254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540000"/>
            <a:ext cx="558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0" y="36830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内存Bug占C/C++安全漏洞比例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0" y="5334000"/>
            <a:ext cx="5588000" cy="2540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11430000" y="558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200" y="114300"/>
                </a:moveTo>
                <a:cubicBezTo>
                  <a:pt x="203200" y="51197"/>
                  <a:pt x="248708" y="0"/>
                  <a:pt x="304800" y="0"/>
                </a:cubicBezTo>
                <a:cubicBezTo>
                  <a:pt x="360892" y="0"/>
                  <a:pt x="406400" y="51197"/>
                  <a:pt x="406400" y="114300"/>
                </a:cubicBezTo>
                <a:lnTo>
                  <a:pt x="406400" y="118586"/>
                </a:lnTo>
                <a:cubicBezTo>
                  <a:pt x="406400" y="137279"/>
                  <a:pt x="392959" y="152400"/>
                  <a:pt x="376343" y="152400"/>
                </a:cubicBezTo>
                <a:lnTo>
                  <a:pt x="233363" y="152400"/>
                </a:lnTo>
                <a:cubicBezTo>
                  <a:pt x="216747" y="152400"/>
                  <a:pt x="203306" y="137279"/>
                  <a:pt x="203306" y="118586"/>
                </a:cubicBezTo>
                <a:lnTo>
                  <a:pt x="203306" y="114300"/>
                </a:lnTo>
                <a:close/>
                <a:moveTo>
                  <a:pt x="568960" y="129540"/>
                </a:moveTo>
                <a:cubicBezTo>
                  <a:pt x="580178" y="146328"/>
                  <a:pt x="577109" y="170259"/>
                  <a:pt x="562187" y="182880"/>
                </a:cubicBezTo>
                <a:lnTo>
                  <a:pt x="458682" y="270153"/>
                </a:lnTo>
                <a:cubicBezTo>
                  <a:pt x="464291" y="280749"/>
                  <a:pt x="468524" y="292417"/>
                  <a:pt x="471170" y="304800"/>
                </a:cubicBezTo>
                <a:lnTo>
                  <a:pt x="575733" y="304800"/>
                </a:lnTo>
                <a:cubicBezTo>
                  <a:pt x="594466" y="304800"/>
                  <a:pt x="609600" y="321826"/>
                  <a:pt x="609600" y="342900"/>
                </a:cubicBezTo>
                <a:cubicBezTo>
                  <a:pt x="609600" y="363974"/>
                  <a:pt x="594466" y="381000"/>
                  <a:pt x="575733" y="381000"/>
                </a:cubicBezTo>
                <a:lnTo>
                  <a:pt x="474133" y="381000"/>
                </a:lnTo>
                <a:lnTo>
                  <a:pt x="474133" y="419100"/>
                </a:lnTo>
                <a:cubicBezTo>
                  <a:pt x="474133" y="422196"/>
                  <a:pt x="474028" y="425410"/>
                  <a:pt x="473922" y="428506"/>
                </a:cubicBezTo>
                <a:lnTo>
                  <a:pt x="562187" y="502920"/>
                </a:lnTo>
                <a:cubicBezTo>
                  <a:pt x="577109" y="515541"/>
                  <a:pt x="580178" y="539472"/>
                  <a:pt x="568960" y="556260"/>
                </a:cubicBezTo>
                <a:cubicBezTo>
                  <a:pt x="557742" y="573048"/>
                  <a:pt x="536469" y="576501"/>
                  <a:pt x="521547" y="563880"/>
                </a:cubicBezTo>
                <a:lnTo>
                  <a:pt x="454766" y="507563"/>
                </a:lnTo>
                <a:cubicBezTo>
                  <a:pt x="430212" y="560189"/>
                  <a:pt x="384387" y="598289"/>
                  <a:pt x="330200" y="607457"/>
                </a:cubicBezTo>
                <a:lnTo>
                  <a:pt x="330200" y="333375"/>
                </a:lnTo>
                <a:cubicBezTo>
                  <a:pt x="330200" y="317540"/>
                  <a:pt x="318876" y="304800"/>
                  <a:pt x="304800" y="304800"/>
                </a:cubicBezTo>
                <a:cubicBezTo>
                  <a:pt x="290724" y="304800"/>
                  <a:pt x="279400" y="317540"/>
                  <a:pt x="279400" y="333375"/>
                </a:cubicBezTo>
                <a:lnTo>
                  <a:pt x="279400" y="607457"/>
                </a:lnTo>
                <a:cubicBezTo>
                  <a:pt x="225213" y="598289"/>
                  <a:pt x="179387" y="560189"/>
                  <a:pt x="154834" y="507563"/>
                </a:cubicBezTo>
                <a:lnTo>
                  <a:pt x="88053" y="563880"/>
                </a:lnTo>
                <a:cubicBezTo>
                  <a:pt x="73131" y="576501"/>
                  <a:pt x="51858" y="573048"/>
                  <a:pt x="40640" y="556260"/>
                </a:cubicBezTo>
                <a:cubicBezTo>
                  <a:pt x="29422" y="539472"/>
                  <a:pt x="32491" y="515541"/>
                  <a:pt x="47413" y="502920"/>
                </a:cubicBezTo>
                <a:lnTo>
                  <a:pt x="135678" y="428506"/>
                </a:lnTo>
                <a:cubicBezTo>
                  <a:pt x="135573" y="425410"/>
                  <a:pt x="135467" y="422315"/>
                  <a:pt x="135467" y="419100"/>
                </a:cubicBezTo>
                <a:lnTo>
                  <a:pt x="135467" y="381000"/>
                </a:lnTo>
                <a:lnTo>
                  <a:pt x="33867" y="381000"/>
                </a:lnTo>
                <a:cubicBezTo>
                  <a:pt x="15134" y="381000"/>
                  <a:pt x="0" y="363974"/>
                  <a:pt x="0" y="342900"/>
                </a:cubicBezTo>
                <a:cubicBezTo>
                  <a:pt x="0" y="321826"/>
                  <a:pt x="15134" y="304800"/>
                  <a:pt x="33867" y="304800"/>
                </a:cubicBezTo>
                <a:lnTo>
                  <a:pt x="138430" y="304800"/>
                </a:lnTo>
                <a:cubicBezTo>
                  <a:pt x="141076" y="292418"/>
                  <a:pt x="145309" y="280749"/>
                  <a:pt x="150918" y="270153"/>
                </a:cubicBezTo>
                <a:lnTo>
                  <a:pt x="47413" y="182880"/>
                </a:lnTo>
                <a:cubicBezTo>
                  <a:pt x="32491" y="170259"/>
                  <a:pt x="29422" y="146328"/>
                  <a:pt x="40640" y="129540"/>
                </a:cubicBezTo>
                <a:cubicBezTo>
                  <a:pt x="51858" y="112752"/>
                  <a:pt x="73131" y="109299"/>
                  <a:pt x="88053" y="121920"/>
                </a:cubicBezTo>
                <a:lnTo>
                  <a:pt x="203200" y="219075"/>
                </a:lnTo>
                <a:cubicBezTo>
                  <a:pt x="216218" y="213003"/>
                  <a:pt x="230505" y="209550"/>
                  <a:pt x="245533" y="209550"/>
                </a:cubicBezTo>
                <a:lnTo>
                  <a:pt x="364067" y="209550"/>
                </a:lnTo>
                <a:cubicBezTo>
                  <a:pt x="379095" y="209550"/>
                  <a:pt x="393383" y="212884"/>
                  <a:pt x="406400" y="219075"/>
                </a:cubicBezTo>
                <a:lnTo>
                  <a:pt x="521547" y="121920"/>
                </a:lnTo>
                <a:cubicBezTo>
                  <a:pt x="536469" y="109299"/>
                  <a:pt x="557742" y="112752"/>
                  <a:pt x="568960" y="1295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63500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工业界头号难题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内存安全问题是 C/C++ 程序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最常见、最难排查的Bug类型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为什么需要ASan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3716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54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778000" y="2349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05833" y="79375"/>
                </a:moveTo>
                <a:cubicBezTo>
                  <a:pt x="66918" y="79375"/>
                  <a:pt x="35278" y="114970"/>
                  <a:pt x="35278" y="158750"/>
                </a:cubicBezTo>
                <a:lnTo>
                  <a:pt x="35278" y="476250"/>
                </a:lnTo>
                <a:cubicBezTo>
                  <a:pt x="35278" y="520030"/>
                  <a:pt x="66918" y="555625"/>
                  <a:pt x="105833" y="555625"/>
                </a:cubicBezTo>
                <a:lnTo>
                  <a:pt x="388056" y="555625"/>
                </a:lnTo>
                <a:cubicBezTo>
                  <a:pt x="426971" y="555625"/>
                  <a:pt x="458611" y="520030"/>
                  <a:pt x="458611" y="476250"/>
                </a:cubicBezTo>
                <a:lnTo>
                  <a:pt x="458611" y="158750"/>
                </a:lnTo>
                <a:cubicBezTo>
                  <a:pt x="458611" y="114970"/>
                  <a:pt x="426971" y="79375"/>
                  <a:pt x="388056" y="79375"/>
                </a:cubicBezTo>
                <a:lnTo>
                  <a:pt x="105833" y="79375"/>
                </a:lnTo>
                <a:close/>
                <a:moveTo>
                  <a:pt x="511528" y="416719"/>
                </a:moveTo>
                <a:lnTo>
                  <a:pt x="592556" y="489645"/>
                </a:lnTo>
                <a:cubicBezTo>
                  <a:pt x="597187" y="493861"/>
                  <a:pt x="602919" y="496094"/>
                  <a:pt x="608872" y="496094"/>
                </a:cubicBezTo>
                <a:cubicBezTo>
                  <a:pt x="623314" y="496094"/>
                  <a:pt x="635000" y="482947"/>
                  <a:pt x="635000" y="466700"/>
                </a:cubicBezTo>
                <a:lnTo>
                  <a:pt x="635000" y="168300"/>
                </a:lnTo>
                <a:cubicBezTo>
                  <a:pt x="635000" y="152053"/>
                  <a:pt x="623314" y="138906"/>
                  <a:pt x="608872" y="138906"/>
                </a:cubicBezTo>
                <a:cubicBezTo>
                  <a:pt x="602919" y="138906"/>
                  <a:pt x="597187" y="141139"/>
                  <a:pt x="592556" y="145355"/>
                </a:cubicBezTo>
                <a:lnTo>
                  <a:pt x="511528" y="218281"/>
                </a:lnTo>
                <a:lnTo>
                  <a:pt x="511528" y="4167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667000" y="2159000"/>
            <a:ext cx="1193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传统调试如同</a:t>
            </a:r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案发后到处寻找目击者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——效率极低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我们需要一台 </a:t>
            </a:r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24小时运行的监控摄像机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，在作案瞬间精准抓拍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4064000"/>
            <a:ext cx="4064000" cy="355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702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5280" y="0"/>
                </a:moveTo>
                <a:cubicBezTo>
                  <a:pt x="335280" y="-21074"/>
                  <a:pt x="321659" y="-38100"/>
                  <a:pt x="304800" y="-38100"/>
                </a:cubicBezTo>
                <a:cubicBezTo>
                  <a:pt x="287941" y="-38100"/>
                  <a:pt x="274320" y="-21074"/>
                  <a:pt x="274320" y="0"/>
                </a:cubicBezTo>
                <a:lnTo>
                  <a:pt x="274320" y="76200"/>
                </a:lnTo>
                <a:lnTo>
                  <a:pt x="182880" y="76200"/>
                </a:lnTo>
                <a:cubicBezTo>
                  <a:pt x="132398" y="76200"/>
                  <a:pt x="91440" y="127397"/>
                  <a:pt x="91440" y="190500"/>
                </a:cubicBezTo>
                <a:lnTo>
                  <a:pt x="91440" y="457200"/>
                </a:lnTo>
                <a:cubicBezTo>
                  <a:pt x="91440" y="520303"/>
                  <a:pt x="132398" y="571500"/>
                  <a:pt x="182880" y="571500"/>
                </a:cubicBezTo>
                <a:lnTo>
                  <a:pt x="426720" y="571500"/>
                </a:lnTo>
                <a:cubicBezTo>
                  <a:pt x="477203" y="571500"/>
                  <a:pt x="518160" y="520303"/>
                  <a:pt x="518160" y="457200"/>
                </a:cubicBezTo>
                <a:lnTo>
                  <a:pt x="518160" y="190500"/>
                </a:lnTo>
                <a:cubicBezTo>
                  <a:pt x="518160" y="127397"/>
                  <a:pt x="477203" y="76200"/>
                  <a:pt x="426720" y="76200"/>
                </a:cubicBezTo>
                <a:lnTo>
                  <a:pt x="335280" y="76200"/>
                </a:lnTo>
                <a:lnTo>
                  <a:pt x="335280" y="0"/>
                </a:lnTo>
                <a:close/>
                <a:moveTo>
                  <a:pt x="152400" y="438150"/>
                </a:moveTo>
                <a:cubicBezTo>
                  <a:pt x="152400" y="422315"/>
                  <a:pt x="162592" y="409575"/>
                  <a:pt x="175260" y="409575"/>
                </a:cubicBezTo>
                <a:lnTo>
                  <a:pt x="205740" y="409575"/>
                </a:lnTo>
                <a:cubicBezTo>
                  <a:pt x="218408" y="409575"/>
                  <a:pt x="228600" y="422315"/>
                  <a:pt x="228600" y="438150"/>
                </a:cubicBezTo>
                <a:cubicBezTo>
                  <a:pt x="228600" y="453985"/>
                  <a:pt x="218408" y="466725"/>
                  <a:pt x="205740" y="466725"/>
                </a:cubicBezTo>
                <a:lnTo>
                  <a:pt x="175260" y="466725"/>
                </a:lnTo>
                <a:cubicBezTo>
                  <a:pt x="162592" y="466725"/>
                  <a:pt x="152400" y="453985"/>
                  <a:pt x="152400" y="438150"/>
                </a:cubicBezTo>
                <a:close/>
                <a:moveTo>
                  <a:pt x="266700" y="438150"/>
                </a:moveTo>
                <a:cubicBezTo>
                  <a:pt x="266700" y="422315"/>
                  <a:pt x="276892" y="409575"/>
                  <a:pt x="289560" y="409575"/>
                </a:cubicBezTo>
                <a:lnTo>
                  <a:pt x="320040" y="409575"/>
                </a:lnTo>
                <a:cubicBezTo>
                  <a:pt x="332708" y="409575"/>
                  <a:pt x="342900" y="422315"/>
                  <a:pt x="342900" y="438150"/>
                </a:cubicBezTo>
                <a:cubicBezTo>
                  <a:pt x="342900" y="453985"/>
                  <a:pt x="332708" y="466725"/>
                  <a:pt x="320040" y="466725"/>
                </a:cubicBezTo>
                <a:lnTo>
                  <a:pt x="289560" y="466725"/>
                </a:lnTo>
                <a:cubicBezTo>
                  <a:pt x="276892" y="466725"/>
                  <a:pt x="266700" y="453985"/>
                  <a:pt x="266700" y="438150"/>
                </a:cubicBezTo>
                <a:close/>
                <a:moveTo>
                  <a:pt x="381000" y="438150"/>
                </a:moveTo>
                <a:cubicBezTo>
                  <a:pt x="381000" y="422315"/>
                  <a:pt x="391192" y="409575"/>
                  <a:pt x="403860" y="409575"/>
                </a:cubicBezTo>
                <a:lnTo>
                  <a:pt x="434340" y="409575"/>
                </a:lnTo>
                <a:cubicBezTo>
                  <a:pt x="447008" y="409575"/>
                  <a:pt x="457200" y="422315"/>
                  <a:pt x="457200" y="438150"/>
                </a:cubicBezTo>
                <a:cubicBezTo>
                  <a:pt x="457200" y="453985"/>
                  <a:pt x="447008" y="466725"/>
                  <a:pt x="434340" y="466725"/>
                </a:cubicBezTo>
                <a:lnTo>
                  <a:pt x="403860" y="466725"/>
                </a:lnTo>
                <a:cubicBezTo>
                  <a:pt x="391192" y="466725"/>
                  <a:pt x="381000" y="453985"/>
                  <a:pt x="381000" y="438150"/>
                </a:cubicBezTo>
                <a:close/>
                <a:moveTo>
                  <a:pt x="213360" y="209550"/>
                </a:moveTo>
                <a:cubicBezTo>
                  <a:pt x="238594" y="209550"/>
                  <a:pt x="259080" y="235158"/>
                  <a:pt x="259080" y="266700"/>
                </a:cubicBezTo>
                <a:cubicBezTo>
                  <a:pt x="259080" y="298242"/>
                  <a:pt x="238594" y="323850"/>
                  <a:pt x="213360" y="323850"/>
                </a:cubicBezTo>
                <a:cubicBezTo>
                  <a:pt x="188126" y="323850"/>
                  <a:pt x="167640" y="298242"/>
                  <a:pt x="167640" y="266700"/>
                </a:cubicBezTo>
                <a:cubicBezTo>
                  <a:pt x="167640" y="235158"/>
                  <a:pt x="188126" y="209550"/>
                  <a:pt x="213360" y="209550"/>
                </a:cubicBezTo>
                <a:close/>
                <a:moveTo>
                  <a:pt x="350520" y="266700"/>
                </a:moveTo>
                <a:cubicBezTo>
                  <a:pt x="350520" y="235158"/>
                  <a:pt x="371006" y="209550"/>
                  <a:pt x="396240" y="209550"/>
                </a:cubicBezTo>
                <a:cubicBezTo>
                  <a:pt x="421474" y="209550"/>
                  <a:pt x="441960" y="235158"/>
                  <a:pt x="441960" y="266700"/>
                </a:cubicBezTo>
                <a:cubicBezTo>
                  <a:pt x="441960" y="298242"/>
                  <a:pt x="421474" y="323850"/>
                  <a:pt x="396240" y="323850"/>
                </a:cubicBezTo>
                <a:cubicBezTo>
                  <a:pt x="371006" y="323850"/>
                  <a:pt x="350520" y="298242"/>
                  <a:pt x="350520" y="266700"/>
                </a:cubicBezTo>
                <a:close/>
                <a:moveTo>
                  <a:pt x="60960" y="266700"/>
                </a:moveTo>
                <a:cubicBezTo>
                  <a:pt x="60960" y="245626"/>
                  <a:pt x="47339" y="228600"/>
                  <a:pt x="30480" y="228600"/>
                </a:cubicBezTo>
                <a:cubicBezTo>
                  <a:pt x="13621" y="228600"/>
                  <a:pt x="0" y="245626"/>
                  <a:pt x="0" y="266700"/>
                </a:cubicBezTo>
                <a:lnTo>
                  <a:pt x="0" y="381000"/>
                </a:lnTo>
                <a:cubicBezTo>
                  <a:pt x="0" y="402074"/>
                  <a:pt x="13621" y="419100"/>
                  <a:pt x="30480" y="419100"/>
                </a:cubicBezTo>
                <a:cubicBezTo>
                  <a:pt x="47339" y="419100"/>
                  <a:pt x="60960" y="402074"/>
                  <a:pt x="60960" y="381000"/>
                </a:cubicBezTo>
                <a:lnTo>
                  <a:pt x="60960" y="266700"/>
                </a:lnTo>
                <a:close/>
                <a:moveTo>
                  <a:pt x="579120" y="228600"/>
                </a:moveTo>
                <a:cubicBezTo>
                  <a:pt x="562261" y="228600"/>
                  <a:pt x="548640" y="245626"/>
                  <a:pt x="548640" y="266700"/>
                </a:cubicBezTo>
                <a:lnTo>
                  <a:pt x="548640" y="381000"/>
                </a:lnTo>
                <a:cubicBezTo>
                  <a:pt x="548640" y="402074"/>
                  <a:pt x="562261" y="419100"/>
                  <a:pt x="579120" y="419100"/>
                </a:cubicBezTo>
                <a:cubicBezTo>
                  <a:pt x="595979" y="419100"/>
                  <a:pt x="609600" y="402074"/>
                  <a:pt x="609600" y="381000"/>
                </a:cubicBezTo>
                <a:lnTo>
                  <a:pt x="609600" y="266700"/>
                </a:lnTo>
                <a:cubicBezTo>
                  <a:pt x="609600" y="245626"/>
                  <a:pt x="595979" y="228600"/>
                  <a:pt x="579120" y="228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5143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24000" y="5715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无需手动插入检查代码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编译器自动完成插桩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零代码侵入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42000" y="4064000"/>
            <a:ext cx="4064000" cy="355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422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61010" y="-11787"/>
                </a:moveTo>
                <a:cubicBezTo>
                  <a:pt x="477203" y="-1548"/>
                  <a:pt x="483190" y="17026"/>
                  <a:pt x="475842" y="33218"/>
                </a:cubicBezTo>
                <a:lnTo>
                  <a:pt x="369162" y="266700"/>
                </a:lnTo>
                <a:lnTo>
                  <a:pt x="566057" y="266700"/>
                </a:lnTo>
                <a:cubicBezTo>
                  <a:pt x="584427" y="266700"/>
                  <a:pt x="600755" y="276701"/>
                  <a:pt x="607015" y="291822"/>
                </a:cubicBezTo>
                <a:cubicBezTo>
                  <a:pt x="613274" y="306943"/>
                  <a:pt x="607967" y="323850"/>
                  <a:pt x="593952" y="334089"/>
                </a:cubicBezTo>
                <a:lnTo>
                  <a:pt x="202066" y="619839"/>
                </a:lnTo>
                <a:cubicBezTo>
                  <a:pt x="186690" y="631031"/>
                  <a:pt x="164783" y="631627"/>
                  <a:pt x="148590" y="621387"/>
                </a:cubicBezTo>
                <a:cubicBezTo>
                  <a:pt x="132398" y="611148"/>
                  <a:pt x="126410" y="592574"/>
                  <a:pt x="133758" y="576382"/>
                </a:cubicBezTo>
                <a:lnTo>
                  <a:pt x="240438" y="342900"/>
                </a:lnTo>
                <a:lnTo>
                  <a:pt x="43543" y="342900"/>
                </a:lnTo>
                <a:cubicBezTo>
                  <a:pt x="25173" y="342900"/>
                  <a:pt x="8845" y="332899"/>
                  <a:pt x="2585" y="317778"/>
                </a:cubicBezTo>
                <a:cubicBezTo>
                  <a:pt x="-3674" y="302657"/>
                  <a:pt x="1633" y="285750"/>
                  <a:pt x="15648" y="275511"/>
                </a:cubicBezTo>
                <a:lnTo>
                  <a:pt x="407534" y="-10239"/>
                </a:lnTo>
                <a:cubicBezTo>
                  <a:pt x="422910" y="-21431"/>
                  <a:pt x="444818" y="-22027"/>
                  <a:pt x="461010" y="-1178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51435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96000" y="5715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运行时即时检测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错误发生瞬间报告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不遗漏任何现场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14000" y="4064000"/>
            <a:ext cx="4572000" cy="355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2682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-19050"/>
                </a:moveTo>
                <a:cubicBezTo>
                  <a:pt x="323533" y="-19050"/>
                  <a:pt x="338667" y="-2024"/>
                  <a:pt x="338667" y="19050"/>
                </a:cubicBezTo>
                <a:lnTo>
                  <a:pt x="338667" y="40838"/>
                </a:lnTo>
                <a:cubicBezTo>
                  <a:pt x="442489" y="57507"/>
                  <a:pt x="524616" y="149900"/>
                  <a:pt x="539433" y="266700"/>
                </a:cubicBezTo>
                <a:lnTo>
                  <a:pt x="558800" y="266700"/>
                </a:lnTo>
                <a:cubicBezTo>
                  <a:pt x="577533" y="266700"/>
                  <a:pt x="592667" y="283726"/>
                  <a:pt x="592667" y="304800"/>
                </a:cubicBezTo>
                <a:cubicBezTo>
                  <a:pt x="592667" y="325874"/>
                  <a:pt x="577533" y="342900"/>
                  <a:pt x="558800" y="342900"/>
                </a:cubicBezTo>
                <a:lnTo>
                  <a:pt x="539433" y="342900"/>
                </a:lnTo>
                <a:cubicBezTo>
                  <a:pt x="524616" y="459700"/>
                  <a:pt x="442489" y="552093"/>
                  <a:pt x="338667" y="568762"/>
                </a:cubicBezTo>
                <a:lnTo>
                  <a:pt x="338667" y="590550"/>
                </a:lnTo>
                <a:cubicBezTo>
                  <a:pt x="338667" y="611624"/>
                  <a:pt x="323533" y="628650"/>
                  <a:pt x="304800" y="628650"/>
                </a:cubicBezTo>
                <a:cubicBezTo>
                  <a:pt x="286068" y="628650"/>
                  <a:pt x="270933" y="611624"/>
                  <a:pt x="270933" y="590550"/>
                </a:cubicBezTo>
                <a:lnTo>
                  <a:pt x="270933" y="568762"/>
                </a:lnTo>
                <a:cubicBezTo>
                  <a:pt x="167111" y="552093"/>
                  <a:pt x="84984" y="459700"/>
                  <a:pt x="70167" y="342900"/>
                </a:cubicBezTo>
                <a:lnTo>
                  <a:pt x="50800" y="342900"/>
                </a:lnTo>
                <a:cubicBezTo>
                  <a:pt x="32068" y="342900"/>
                  <a:pt x="16933" y="325874"/>
                  <a:pt x="16933" y="304800"/>
                </a:cubicBezTo>
                <a:cubicBezTo>
                  <a:pt x="16933" y="283726"/>
                  <a:pt x="32068" y="266700"/>
                  <a:pt x="50800" y="266700"/>
                </a:cubicBezTo>
                <a:lnTo>
                  <a:pt x="70167" y="266700"/>
                </a:lnTo>
                <a:cubicBezTo>
                  <a:pt x="84984" y="149900"/>
                  <a:pt x="167111" y="57507"/>
                  <a:pt x="270933" y="40838"/>
                </a:cubicBezTo>
                <a:lnTo>
                  <a:pt x="270933" y="19050"/>
                </a:lnTo>
                <a:cubicBezTo>
                  <a:pt x="270933" y="-2024"/>
                  <a:pt x="286068" y="-19050"/>
                  <a:pt x="304800" y="-19050"/>
                </a:cubicBezTo>
                <a:close/>
                <a:moveTo>
                  <a:pt x="138853" y="342900"/>
                </a:moveTo>
                <a:cubicBezTo>
                  <a:pt x="152294" y="417552"/>
                  <a:pt x="204576" y="476369"/>
                  <a:pt x="270933" y="491490"/>
                </a:cubicBezTo>
                <a:lnTo>
                  <a:pt x="270933" y="476250"/>
                </a:lnTo>
                <a:cubicBezTo>
                  <a:pt x="270933" y="455176"/>
                  <a:pt x="286068" y="438150"/>
                  <a:pt x="304800" y="438150"/>
                </a:cubicBezTo>
                <a:cubicBezTo>
                  <a:pt x="323533" y="438150"/>
                  <a:pt x="338667" y="455176"/>
                  <a:pt x="338667" y="476250"/>
                </a:cubicBezTo>
                <a:lnTo>
                  <a:pt x="338667" y="491490"/>
                </a:lnTo>
                <a:cubicBezTo>
                  <a:pt x="405024" y="476369"/>
                  <a:pt x="457306" y="417552"/>
                  <a:pt x="470747" y="342900"/>
                </a:cubicBezTo>
                <a:lnTo>
                  <a:pt x="457200" y="342900"/>
                </a:lnTo>
                <a:cubicBezTo>
                  <a:pt x="438467" y="342900"/>
                  <a:pt x="423333" y="325874"/>
                  <a:pt x="423333" y="304800"/>
                </a:cubicBezTo>
                <a:cubicBezTo>
                  <a:pt x="423333" y="283726"/>
                  <a:pt x="438467" y="266700"/>
                  <a:pt x="457200" y="266700"/>
                </a:cubicBezTo>
                <a:lnTo>
                  <a:pt x="470747" y="266700"/>
                </a:lnTo>
                <a:cubicBezTo>
                  <a:pt x="457306" y="192048"/>
                  <a:pt x="405024" y="133231"/>
                  <a:pt x="338667" y="118110"/>
                </a:cubicBezTo>
                <a:lnTo>
                  <a:pt x="338667" y="133350"/>
                </a:lnTo>
                <a:cubicBezTo>
                  <a:pt x="338667" y="154424"/>
                  <a:pt x="323533" y="171450"/>
                  <a:pt x="304800" y="171450"/>
                </a:cubicBezTo>
                <a:cubicBezTo>
                  <a:pt x="286068" y="171450"/>
                  <a:pt x="270933" y="154424"/>
                  <a:pt x="270933" y="133350"/>
                </a:cubicBezTo>
                <a:lnTo>
                  <a:pt x="270933" y="118110"/>
                </a:lnTo>
                <a:cubicBezTo>
                  <a:pt x="204576" y="133231"/>
                  <a:pt x="152294" y="192048"/>
                  <a:pt x="138853" y="266700"/>
                </a:cubicBezTo>
                <a:lnTo>
                  <a:pt x="152400" y="266700"/>
                </a:lnTo>
                <a:cubicBezTo>
                  <a:pt x="171132" y="266700"/>
                  <a:pt x="186267" y="283726"/>
                  <a:pt x="186267" y="304800"/>
                </a:cubicBezTo>
                <a:cubicBezTo>
                  <a:pt x="186267" y="325874"/>
                  <a:pt x="171132" y="342900"/>
                  <a:pt x="152400" y="342900"/>
                </a:cubicBezTo>
                <a:lnTo>
                  <a:pt x="138853" y="342900"/>
                </a:lnTo>
                <a:close/>
                <a:moveTo>
                  <a:pt x="304800" y="247650"/>
                </a:moveTo>
                <a:cubicBezTo>
                  <a:pt x="332837" y="247650"/>
                  <a:pt x="355600" y="273258"/>
                  <a:pt x="355600" y="304800"/>
                </a:cubicBezTo>
                <a:cubicBezTo>
                  <a:pt x="355600" y="336342"/>
                  <a:pt x="332837" y="361950"/>
                  <a:pt x="304800" y="361950"/>
                </a:cubicBezTo>
                <a:cubicBezTo>
                  <a:pt x="276763" y="361950"/>
                  <a:pt x="254000" y="336342"/>
                  <a:pt x="254000" y="304800"/>
                </a:cubicBezTo>
                <a:cubicBezTo>
                  <a:pt x="254000" y="273258"/>
                  <a:pt x="276763" y="247650"/>
                  <a:pt x="304800" y="2476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0" y="5143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68000" y="5715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精确到字节位置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完整调用栈回溯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几乎零误报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ASan 是什么，能干什么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Google 开源的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动态内存错误检测工具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已集成于 Clang / GCC，加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-fsanitize=address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即可启用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运行时检测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（非静态分析），相当于给程序装上「内存安检系统」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668000" y="1841500"/>
            <a:ext cx="4318000" cy="1397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10922000" y="1968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启用方式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gcc -fsanitize=address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clang -fsanitize=address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42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ASan 可自动检测的错误类型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3937000"/>
          <a:ext cx="13716000" cy="3302000"/>
        </p:xfrm>
        <a:graphic>
          <a:graphicData uri="http://schemas.openxmlformats.org/drawingml/2006/table">
            <a:tbl>
              <a:tblPr/>
              <a:tblGrid>
                <a:gridCol w="4114800"/>
                <a:gridCol w="9601200"/>
              </a:tblGrid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错误类型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说明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堆/栈/全局缓冲区溢出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越界读写内存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Use-after-free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使用已释放的内存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Use-after-scope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使用离开作用域的栈对象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Double-free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重复释放同一块内存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内存泄漏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搭配 LSan (LeakSanitizer) 使用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270000" y="7493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78000" y="7556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每次报告包含：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错误类型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触发位置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分配/释放调用栈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98500"/>
            <a:ext cx="1219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核心原理——影子内存（Shadow Memory）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60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程序内存以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字节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为一个检测单元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另有一块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影子内存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，每 8 字节对应 1 字节影子值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地址映射：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Shadow = (Addr &gt;&gt; 3) + Offset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70000" y="355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影子值含义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4038600"/>
          <a:ext cx="6604000" cy="2286000"/>
        </p:xfrm>
        <a:graphic>
          <a:graphicData uri="http://schemas.openxmlformats.org/drawingml/2006/table">
            <a:tbl>
              <a:tblPr/>
              <a:tblGrid>
                <a:gridCol w="1651000"/>
                <a:gridCol w="49530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影子值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含义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全部 8 字节可访问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负数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全部不可访问（红区 / 已释放）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 ~ 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前 k 字节可访问，其余不可访问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82000" y="1841500"/>
            <a:ext cx="6604000" cy="44831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63000" y="2032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手动验证示例（GDB 实操）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63000" y="2603500"/>
            <a:ext cx="584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假设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p[10]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地址为：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0x6030000000a0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计算影子地址：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(0x6030000000a0 &gt;&gt; 3) + 0x7fff8000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GDB 查看影子值：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(gdb) x/bx 影子地址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若影子值为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负数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→ 说明该内存不可写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78000" y="6794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映射关系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：程序内存每 8 字节 → 影子内存 1 字节 |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比例 8:1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影子内存开销约为程序内存的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12.5%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编译器插桩（Instrumentation）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137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编译时指定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-fsanitize=address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，编译器在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每次内存访问前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自动插入检查代码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603500"/>
            <a:ext cx="6350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编译前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4000" y="32385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 = a[i];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a[i] = 5;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74000" y="3556000"/>
            <a:ext cx="762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7F50"/>
          </a:solidFill>
          <a:ln/>
        </p:spPr>
      </p:sp>
      <p:sp>
        <p:nvSpPr>
          <p:cNvPr id="9" name="Shape 7"/>
          <p:cNvSpPr/>
          <p:nvPr/>
        </p:nvSpPr>
        <p:spPr>
          <a:xfrm>
            <a:off x="8890000" y="2603500"/>
            <a:ext cx="6096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0" y="273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编译器插桩后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0" y="3238500"/>
            <a:ext cx="558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__asan_load4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(&amp;a[i]); x = a[i];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__asan_store4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(&amp;a[i]); a[i] = 5;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88000"/>
            <a:ext cx="13716000" cy="254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8000" y="5842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插桩机制要点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函数入口自动插桩，在栈变量周围放置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红区（Redzone）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__asan_loadN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__asan_storeN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由 ASan 运行时库实现（N = 1/2/4/8/16）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性能开销：约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运行时间，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2x-3x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内存占用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接管内存函数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ASan 通过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链接时包装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或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LD_PRELOAD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接管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malloc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413000"/>
            <a:ext cx="6731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1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7169" y="307181"/>
                </a:moveTo>
                <a:lnTo>
                  <a:pt x="207169" y="250031"/>
                </a:ln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lnTo>
                  <a:pt x="207169" y="207169"/>
                </a:lnTo>
                <a:lnTo>
                  <a:pt x="207169" y="150019"/>
                </a:lnTo>
                <a:cubicBezTo>
                  <a:pt x="207169" y="138142"/>
                  <a:pt x="216724" y="128588"/>
                  <a:pt x="228600" y="128588"/>
                </a:cubicBezTo>
                <a:cubicBezTo>
                  <a:pt x="240476" y="128588"/>
                  <a:pt x="250031" y="138142"/>
                  <a:pt x="250031" y="150019"/>
                </a:cubicBezTo>
                <a:lnTo>
                  <a:pt x="250031" y="207169"/>
                </a:ln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250031" y="250031"/>
                </a:lnTo>
                <a:lnTo>
                  <a:pt x="250031" y="307181"/>
                </a:lnTo>
                <a:cubicBezTo>
                  <a:pt x="250031" y="319058"/>
                  <a:pt x="240476" y="328613"/>
                  <a:pt x="228600" y="328613"/>
                </a:cubicBezTo>
                <a:cubicBezTo>
                  <a:pt x="216724" y="328613"/>
                  <a:pt x="207169" y="319058"/>
                  <a:pt x="207169" y="307181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667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接管后的 malloc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1000" y="3302000"/>
            <a:ext cx="596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在用户数据区前后添加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红区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红区影子值标记为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不可访问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记录此次分配的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调用栈回溯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堆块结构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[红区][用户数据区][红区]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2413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63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50019" y="207169"/>
                </a:move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667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接管后的 free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63000" y="3302000"/>
            <a:ext cx="584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整块内存影子区域标记为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不可访问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放入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隔离区（Quarantine）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延迟回收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记录此次释放的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调用栈回溯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隔离区作用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捕捉 use-after-free 行为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6000"/>
                </a:srgbClr>
              </a:gs>
              <a:gs pos="100000">
                <a:srgbClr val="FF7F50">
                  <a:alpha val="6000"/>
                </a:srgbClr>
              </a:gs>
            </a:gsLst>
            <a:lin ang="5400000" scaled="1"/>
          </a:gra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8000" y="6794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错误定位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：分配调用栈 + 释放调用栈 →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精准定位问题代码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红区检测溢出 | 隔离区检测 use-after-free | 双栈回溯精准定位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公司内部对ASan的部分修改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F7F50">
              <a:alpha val="8235"/>
            </a:srgbClr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21444"/>
                </a:moveTo>
                <a:cubicBezTo>
                  <a:pt x="240476" y="121444"/>
                  <a:pt x="250031" y="130999"/>
                  <a:pt x="250031" y="142875"/>
                </a:cubicBezTo>
                <a:lnTo>
                  <a:pt x="250031" y="242888"/>
                </a:lnTo>
                <a:cubicBezTo>
                  <a:pt x="250031" y="254764"/>
                  <a:pt x="240476" y="264319"/>
                  <a:pt x="228600" y="264319"/>
                </a:cubicBezTo>
                <a:cubicBezTo>
                  <a:pt x="216724" y="264319"/>
                  <a:pt x="207169" y="254764"/>
                  <a:pt x="207169" y="242888"/>
                </a:cubicBezTo>
                <a:lnTo>
                  <a:pt x="207169" y="142875"/>
                </a:lnTo>
                <a:cubicBezTo>
                  <a:pt x="207169" y="130999"/>
                  <a:pt x="216724" y="121444"/>
                  <a:pt x="228600" y="121444"/>
                </a:cubicBezTo>
                <a:close/>
                <a:moveTo>
                  <a:pt x="204758" y="314325"/>
                </a:moveTo>
                <a:cubicBezTo>
                  <a:pt x="204215" y="305475"/>
                  <a:pt x="208629" y="297055"/>
                  <a:pt x="216215" y="292466"/>
                </a:cubicBezTo>
                <a:cubicBezTo>
                  <a:pt x="223802" y="287877"/>
                  <a:pt x="233309" y="287877"/>
                  <a:pt x="240895" y="292466"/>
                </a:cubicBezTo>
                <a:cubicBezTo>
                  <a:pt x="248482" y="297055"/>
                  <a:pt x="252895" y="305475"/>
                  <a:pt x="252353" y="314325"/>
                </a:cubicBezTo>
                <a:cubicBezTo>
                  <a:pt x="252895" y="323175"/>
                  <a:pt x="248482" y="331595"/>
                  <a:pt x="240895" y="336184"/>
                </a:cubicBezTo>
                <a:cubicBezTo>
                  <a:pt x="233309" y="340773"/>
                  <a:pt x="223802" y="340773"/>
                  <a:pt x="216215" y="336184"/>
                </a:cubicBezTo>
                <a:cubicBezTo>
                  <a:pt x="208629" y="331595"/>
                  <a:pt x="204215" y="323175"/>
                  <a:pt x="204758" y="3143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1231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此页主要内容由演讲人自行填充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，以下为建议框架，可按需删改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3556000"/>
            <a:ext cx="4318000" cy="381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4000" y="3810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81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4000" y="450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修改背景与动机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24000" y="50165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（待填充）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为何需要修改ASan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业务场景与挑战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现有方案的不足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69000" y="3556000"/>
            <a:ext cx="4318000" cy="381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3000" y="3810000"/>
            <a:ext cx="508000" cy="508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381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3000" y="450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具体改动内容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23000" y="50165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（待填充）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改了哪些模块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技术实现方案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关键代码逻辑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0" y="3556000"/>
            <a:ext cx="4318000" cy="381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22000" y="381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2000" y="381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22000" y="450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修改效果/收益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22000" y="50165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（待填充）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性能提升数据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Bug发现数量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线上事故减少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公司内部对ASan的部分修改（续）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F7F50">
              <a:alpha val="8235"/>
            </a:srgbClr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51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0025" y="142875"/>
                </a:moveTo>
                <a:cubicBezTo>
                  <a:pt x="200025" y="127104"/>
                  <a:pt x="212829" y="114300"/>
                  <a:pt x="228600" y="114300"/>
                </a:cubicBezTo>
                <a:cubicBezTo>
                  <a:pt x="244371" y="114300"/>
                  <a:pt x="257175" y="127104"/>
                  <a:pt x="257175" y="142875"/>
                </a:cubicBezTo>
                <a:cubicBezTo>
                  <a:pt x="257175" y="158646"/>
                  <a:pt x="244371" y="171450"/>
                  <a:pt x="228600" y="171450"/>
                </a:cubicBezTo>
                <a:cubicBezTo>
                  <a:pt x="212829" y="171450"/>
                  <a:pt x="200025" y="158646"/>
                  <a:pt x="200025" y="142875"/>
                </a:cubicBezTo>
                <a:close/>
                <a:moveTo>
                  <a:pt x="192881" y="200025"/>
                </a:moveTo>
                <a:lnTo>
                  <a:pt x="235744" y="200025"/>
                </a:lnTo>
                <a:cubicBezTo>
                  <a:pt x="247620" y="200025"/>
                  <a:pt x="257175" y="209580"/>
                  <a:pt x="257175" y="221456"/>
                </a:cubicBezTo>
                <a:lnTo>
                  <a:pt x="257175" y="300038"/>
                </a:ln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192881" y="342900"/>
                </a:lnTo>
                <a:cubicBezTo>
                  <a:pt x="181005" y="342900"/>
                  <a:pt x="171450" y="333345"/>
                  <a:pt x="171450" y="321469"/>
                </a:cubicBezTo>
                <a:cubicBezTo>
                  <a:pt x="171450" y="309592"/>
                  <a:pt x="181005" y="300038"/>
                  <a:pt x="192881" y="300038"/>
                </a:cubicBezTo>
                <a:lnTo>
                  <a:pt x="214313" y="300038"/>
                </a:lnTo>
                <a:lnTo>
                  <a:pt x="214313" y="242888"/>
                </a:lnTo>
                <a:lnTo>
                  <a:pt x="192881" y="242888"/>
                </a:lnTo>
                <a:cubicBezTo>
                  <a:pt x="181005" y="242888"/>
                  <a:pt x="171450" y="233333"/>
                  <a:pt x="171450" y="221456"/>
                </a:cubicBezTo>
                <a:cubicBezTo>
                  <a:pt x="171450" y="209580"/>
                  <a:pt x="181005" y="200025"/>
                  <a:pt x="192881" y="2000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1231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若 Slide 9 一页放不下可延续至此页；若已足够，可删除本页或改为补充细节页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3556000"/>
            <a:ext cx="13716000" cy="406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3000" y="457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01873" y="32296"/>
                </a:moveTo>
                <a:cubicBezTo>
                  <a:pt x="669280" y="-298"/>
                  <a:pt x="616595" y="-298"/>
                  <a:pt x="584002" y="32296"/>
                </a:cubicBezTo>
                <a:lnTo>
                  <a:pt x="547687" y="68610"/>
                </a:lnTo>
                <a:lnTo>
                  <a:pt x="693390" y="214313"/>
                </a:lnTo>
                <a:lnTo>
                  <a:pt x="729704" y="177998"/>
                </a:lnTo>
                <a:cubicBezTo>
                  <a:pt x="762298" y="145405"/>
                  <a:pt x="762298" y="92720"/>
                  <a:pt x="729704" y="60127"/>
                </a:cubicBezTo>
                <a:lnTo>
                  <a:pt x="701873" y="32296"/>
                </a:lnTo>
                <a:close/>
                <a:moveTo>
                  <a:pt x="256580" y="359718"/>
                </a:moveTo>
                <a:cubicBezTo>
                  <a:pt x="247501" y="368796"/>
                  <a:pt x="240506" y="379958"/>
                  <a:pt x="236488" y="392311"/>
                </a:cubicBezTo>
                <a:lnTo>
                  <a:pt x="192435" y="524470"/>
                </a:lnTo>
                <a:cubicBezTo>
                  <a:pt x="188119" y="537270"/>
                  <a:pt x="191542" y="551408"/>
                  <a:pt x="201067" y="561082"/>
                </a:cubicBezTo>
                <a:cubicBezTo>
                  <a:pt x="210592" y="570756"/>
                  <a:pt x="224730" y="574030"/>
                  <a:pt x="237679" y="569714"/>
                </a:cubicBezTo>
                <a:lnTo>
                  <a:pt x="369838" y="525661"/>
                </a:lnTo>
                <a:cubicBezTo>
                  <a:pt x="382042" y="521643"/>
                  <a:pt x="393204" y="514648"/>
                  <a:pt x="402431" y="505569"/>
                </a:cubicBezTo>
                <a:lnTo>
                  <a:pt x="642938" y="264765"/>
                </a:lnTo>
                <a:lnTo>
                  <a:pt x="497235" y="119063"/>
                </a:lnTo>
                <a:lnTo>
                  <a:pt x="256580" y="359718"/>
                </a:lnTo>
                <a:close/>
                <a:moveTo>
                  <a:pt x="142875" y="95250"/>
                </a:moveTo>
                <a:cubicBezTo>
                  <a:pt x="63996" y="95250"/>
                  <a:pt x="0" y="159246"/>
                  <a:pt x="0" y="238125"/>
                </a:cubicBezTo>
                <a:lnTo>
                  <a:pt x="0" y="619125"/>
                </a:lnTo>
                <a:cubicBezTo>
                  <a:pt x="0" y="698004"/>
                  <a:pt x="63996" y="762000"/>
                  <a:pt x="142875" y="762000"/>
                </a:cubicBezTo>
                <a:lnTo>
                  <a:pt x="523875" y="762000"/>
                </a:lnTo>
                <a:cubicBezTo>
                  <a:pt x="602754" y="762000"/>
                  <a:pt x="666750" y="698004"/>
                  <a:pt x="666750" y="619125"/>
                </a:cubicBezTo>
                <a:lnTo>
                  <a:pt x="666750" y="476250"/>
                </a:lnTo>
                <a:cubicBezTo>
                  <a:pt x="666750" y="449907"/>
                  <a:pt x="645468" y="428625"/>
                  <a:pt x="619125" y="428625"/>
                </a:cubicBezTo>
                <a:cubicBezTo>
                  <a:pt x="592782" y="428625"/>
                  <a:pt x="571500" y="449907"/>
                  <a:pt x="571500" y="476250"/>
                </a:cubicBezTo>
                <a:lnTo>
                  <a:pt x="571500" y="619125"/>
                </a:lnTo>
                <a:cubicBezTo>
                  <a:pt x="571500" y="645468"/>
                  <a:pt x="550218" y="666750"/>
                  <a:pt x="523875" y="666750"/>
                </a:cubicBezTo>
                <a:lnTo>
                  <a:pt x="142875" y="666750"/>
                </a:lnTo>
                <a:cubicBezTo>
                  <a:pt x="116532" y="666750"/>
                  <a:pt x="95250" y="645468"/>
                  <a:pt x="95250" y="619125"/>
                </a:cubicBezTo>
                <a:lnTo>
                  <a:pt x="95250" y="238125"/>
                </a:lnTo>
                <a:cubicBezTo>
                  <a:pt x="95250" y="211782"/>
                  <a:pt x="116532" y="190500"/>
                  <a:pt x="142875" y="190500"/>
                </a:cubicBezTo>
                <a:lnTo>
                  <a:pt x="285750" y="190500"/>
                </a:lnTo>
                <a:cubicBezTo>
                  <a:pt x="312093" y="190500"/>
                  <a:pt x="333375" y="169218"/>
                  <a:pt x="333375" y="142875"/>
                </a:cubicBezTo>
                <a:cubicBezTo>
                  <a:pt x="333375" y="116532"/>
                  <a:pt x="312093" y="95250"/>
                  <a:pt x="285750" y="95250"/>
                </a:cubicBezTo>
                <a:lnTo>
                  <a:pt x="142875" y="95250"/>
                </a:lnTo>
                <a:close/>
              </a:path>
            </a:pathLst>
          </a:custGeom>
          <a:solidFill>
            <a:srgbClr val="D0D6DC"/>
          </a:solidFill>
          <a:ln/>
        </p:spPr>
      </p:sp>
      <p:sp>
        <p:nvSpPr>
          <p:cNvPr id="9" name="Text 7"/>
          <p:cNvSpPr/>
          <p:nvPr/>
        </p:nvSpPr>
        <p:spPr>
          <a:xfrm>
            <a:off x="2540000" y="5588000"/>
            <a:ext cx="1117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（待填充区域）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演讲人可自行补充：更多修改细节 / 对比数据 / 架构图等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动手试一试——Demo 程序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编写含典型内存Bug的 Demo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使用 ASan 编译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运行，观察错误报告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841500"/>
            <a:ext cx="6604000" cy="1397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8763000" y="1968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编译命令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63000" y="2413000"/>
            <a:ext cx="584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gcc -fsanitize=address -g -o demo demo.c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0000" y="3556000"/>
            <a:ext cx="6858000" cy="4191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24000" y="3683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demo.c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24000" y="4127500"/>
            <a:ext cx="635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#include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&lt;stdlib.h&gt;</a:t>
            </a:r>
            <a:endParaRPr lang="en-US" sz="1500" dirty="0"/>
          </a:p>
          <a:p>
            <a:pPr algn="l">
              <a:lnSpc>
                <a:spcPct val="170000"/>
              </a:lnSpc>
            </a:pP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{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*p = malloc(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*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sizeof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));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p[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42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 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heap-buffer-overflow!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free(p);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;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82000" y="3556000"/>
            <a:ext cx="6604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63000" y="368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ASan 报告关键信息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763000" y="4191000"/>
            <a:ext cx="5842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错误类型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ERROR: AddressSanitizer: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heap-buffer-overflow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触发行号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demo.c:5:3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分配/释放调用栈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完整堆栈回溯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GDB 中追踪 ASan 接管流程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目标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：在 GDB 中观察 ASan 拦截内存错误的完整调用路径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413000"/>
            <a:ext cx="7112000" cy="5588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2514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Terminal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2857500"/>
            <a:ext cx="660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gcc -fsanitize=address -g -o demo demo.c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gdb ./demo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Reading symbols from ./demo...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(gdb)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break __asan_report_error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Breakpoint 1 at 0x12345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(gdb)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run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Breakpoint 1, __asan_report_error ()</a:t>
            </a:r>
            <a:endParaRPr lang="en-US" sz="1400" dirty="0"/>
          </a:p>
          <a:p>
            <a:pPr algn="l">
              <a:lnSpc>
                <a:spcPct val="155000"/>
              </a:lnSpc>
            </a:pP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(gdb)</a:t>
            </a:r>
            <a:pPr algn="l">
              <a:lnSpc>
                <a:spcPct val="155000"/>
              </a:lnSpc>
            </a:pPr>
            <a:r>
              <a:rPr lang="en-US" sz="140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bt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#0 __asan_report_error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#1 __asan_store4</a:t>
            </a:r>
            <a:endParaRPr lang="en-US" sz="1400" dirty="0"/>
          </a:p>
          <a:p>
            <a:pPr algn="l">
              <a:lnSpc>
                <a:spcPct val="155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#2 main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63000" y="2413000"/>
            <a:ext cx="6223000" cy="254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0" y="2603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调用路径示例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0" y="3175000"/>
            <a:ext cx="546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↓ 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__asan_store4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↓ 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__asan_report_error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← 断点停在这里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63000" y="5334000"/>
            <a:ext cx="6223000" cy="2413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9144000" y="565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779000" y="5651500"/>
            <a:ext cx="482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调试技巧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0" y="6286500"/>
            <a:ext cx="546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在 __asan_report_error 设断点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触发错误时自动停在断点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bt 命令查看完整调用栈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0" y="0"/>
                </a:moveTo>
                <a:lnTo>
                  <a:pt x="2286000" y="0"/>
                </a:lnTo>
                <a:lnTo>
                  <a:pt x="2286000" y="1143000"/>
                </a:lnTo>
                <a:quadBezTo>
                  <a:pt x="1714500" y="2286000"/>
                  <a:pt x="1143000" y="2286000"/>
                </a:quadBezTo>
                <a:lnTo>
                  <a:pt x="571500" y="2286000"/>
                </a:lnTo>
                <a:quadBezTo>
                  <a:pt x="0" y="2286000"/>
                  <a:pt x="0" y="1143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3970000" y="68580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86000" y="2286000"/>
                </a:moveTo>
                <a:lnTo>
                  <a:pt x="0" y="2286000"/>
                </a:lnTo>
                <a:lnTo>
                  <a:pt x="0" y="1143000"/>
                </a:lnTo>
                <a:quadBezTo>
                  <a:pt x="571500" y="0"/>
                  <a:pt x="1143000" y="0"/>
                </a:quadBezTo>
                <a:lnTo>
                  <a:pt x="1714500" y="0"/>
                </a:lnTo>
                <a:quadBezTo>
                  <a:pt x="2286000" y="0"/>
                  <a:pt x="2286000" y="1143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127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858000" y="21590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2540000"/>
            <a:ext cx="1117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ASan 是内存错误检测利器：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精准、快速、几乎零误报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核心原理三件套：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影子内存 + 编译器插桩 + 接管内存函数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使用极简：编译加 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-fsanitize=address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，运行即得详细报告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建议所有 C/C++ 开发者集成到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开发环境与 CI/CD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流程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MSan、UBSan、模糊测试搭配，构筑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多层次内存安全防线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48000" y="609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让内存Bug无处遁形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88000" y="6858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zyy · 2026.07.14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3000" y="7620000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3000" y="762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ASan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AddressSanitizer (ASan) 机制扫盲</dc:title>
  <dc:subject>AddressSanitizer (ASan) 机制扫盲</dc:subject>
  <dc:creator>Kimi</dc:creator>
  <cp:lastModifiedBy>Kimi</cp:lastModifiedBy>
  <cp:revision>1</cp:revision>
  <dcterms:created xsi:type="dcterms:W3CDTF">2026-07-13T15:03:04Z</dcterms:created>
  <dcterms:modified xsi:type="dcterms:W3CDTF">2026-07-13T15:03:04Z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{"Label":"AddressSanitizer (ASan) 机制扫盲","ContentProducer":"001191110108MACG2KBH8F10000","ProduceID":"19f5beab-68f2-8f33-8000-0000999902c9","ReservedCode1":"","ContentPropagator":"001191110108MACG2KBH8F20000","PropagateID":"19f5be6a-0782-820e-8000-095b690bc77f","ReservedCode2":""}</vt:lpwstr>
  </property>
</Properties>
</file>